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— Course-End Project 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Loan Default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" y="2523744"/>
            <a:ext cx="5029200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6151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Logistic Regression  ·  Tableau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1920240" cy="1298448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209544"/>
            <a:ext cx="192024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233,154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3959718"/>
            <a:ext cx="192024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3154680"/>
            <a:ext cx="1920240" cy="1298448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3209544"/>
            <a:ext cx="192024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3959718"/>
            <a:ext cx="192024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3154680"/>
            <a:ext cx="1920240" cy="1298448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209544"/>
            <a:ext cx="192024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21.7%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3959718"/>
            <a:ext cx="192024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3154680"/>
            <a:ext cx="1920240" cy="1298448"/>
          </a:xfrm>
          <a:prstGeom prst="rect">
            <a:avLst/>
          </a:prstGeom>
          <a:solidFill>
            <a:srgbClr val="006064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3209544"/>
            <a:ext cx="192024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0.618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3959718"/>
            <a:ext cx="192024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Banking / FinTech  |  Model: Logistic Regression  |  Tools: Python · Tableau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16052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59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9776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incur significant losses due to vehicle loan defaults.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led to: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Tightening of vehicle loan underwriting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Increased loan rejection rates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for better credit risk scoring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233,154 records with 41 attributes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determinants of vehicle loan default and build a predictive model.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16052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49808"/>
            <a:ext cx="416052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59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 Performed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160520" cy="30175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261872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28016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inspection — structure, missing values, duplicates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41605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572768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1591056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Variable renaming to Python standards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883664"/>
            <a:ext cx="4160520" cy="30175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883664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1901952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Missing value treatment (Employment Type)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41605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194560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21284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Statistical description of quantitative variables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505456"/>
            <a:ext cx="4160520" cy="30175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2505456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2523744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Target variable &amp; category-wise distribution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816352"/>
            <a:ext cx="41605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2816352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283464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Employment type, Age &amp; ID proof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127248"/>
            <a:ext cx="4160520" cy="30175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3127248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145536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Credit bureau score deep dive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438144"/>
            <a:ext cx="41605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3438144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3456432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Primary &amp; secondary account exploration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749040"/>
            <a:ext cx="4160520" cy="30175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6" name="Shape 34"/>
          <p:cNvSpPr/>
          <p:nvPr/>
        </p:nvSpPr>
        <p:spPr>
          <a:xfrm>
            <a:off x="4709160" y="3749040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4818888" y="376732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Logistic Regression + Confusion Matrix + ROC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4059936"/>
            <a:ext cx="41605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709160" y="4059936"/>
            <a:ext cx="45720" cy="301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0" name="Text 38"/>
          <p:cNvSpPr/>
          <p:nvPr/>
        </p:nvSpPr>
        <p:spPr>
          <a:xfrm>
            <a:off x="4818888" y="4078224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Tableau Dashboard — 6 interactive charts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&amp; Preliminary Inspection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93392" cy="1170432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32104"/>
            <a:ext cx="19933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233,154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502908"/>
            <a:ext cx="1993392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777240"/>
            <a:ext cx="1993392" cy="1170432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832104"/>
            <a:ext cx="19933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50592" y="1502908"/>
            <a:ext cx="1993392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26864" y="777240"/>
            <a:ext cx="1993392" cy="1170432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832104"/>
            <a:ext cx="19933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6864" y="1502908"/>
            <a:ext cx="1993392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03136" y="777240"/>
            <a:ext cx="1993392" cy="1170432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832104"/>
            <a:ext cx="19933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7,661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03136" y="1502908"/>
            <a:ext cx="1993392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(Emp. Type)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Variable Structure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87168"/>
          <a:ext cx="5029200" cy="242316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0=No Default, 1=Default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disbursed_amount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amount disbursed to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Employment.Type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7,661 missing — fill with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PERFORM_CNS.SCORE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Bureau Score (0–900)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Date.of.Birth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to derive Age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PRI/SEC.*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&amp; Secondary account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no_of_inquiries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loan enquiries made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 &amp; Cleaning Strategy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0" y="2487168"/>
            <a:ext cx="3383280" cy="329184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Employment.Type → Fill with mode ('Self employed')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2834640"/>
            <a:ext cx="3383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other columns have missing values ✓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0" y="3182112"/>
            <a:ext cx="3383280" cy="329184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Text 21"/>
          <p:cNvSpPr/>
          <p:nvPr/>
        </p:nvSpPr>
        <p:spPr>
          <a:xfrm>
            <a:off x="5577840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duplicate records found ✓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0" y="3529584"/>
            <a:ext cx="3383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5577840" y="3557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Column names: replace '.' with '_', lowercase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0" y="3877056"/>
            <a:ext cx="3383280" cy="329184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8" name="Text 25"/>
          <p:cNvSpPr/>
          <p:nvPr/>
        </p:nvSpPr>
        <p:spPr>
          <a:xfrm>
            <a:off x="557784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Date.of.Birth → derive Age (reference: 2018-01-01)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0" y="4224528"/>
            <a:ext cx="3383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557784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AVERAGE.ACCT.AGE (string) → parse to months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Target Variable &amp; Employment Type Distribution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44531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Dataset is imbalanced — 78.3% Non-Default vs 21.7% Default (50,611 defaulters).  Self-employed customers form ~57% of defaulters vs ~40% salaried.  7,661 missing Employment Type records filled with mode.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Age Distribution vs Loan Default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44531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Age range: 17–68 years.  Avg age of Defaulters: 32.7 yrs vs Non-Defaulters: 33.5 yrs.  Younger customers (18–30) form the largest borrower group and contribute most defaults.  Age alone is NOT a strong predictor.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ID Proof Types Submitted by Customers (Q9)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49808"/>
            <a:ext cx="8229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343400"/>
            <a:ext cx="1371600" cy="59436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43708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737360" y="4343400"/>
            <a:ext cx="1371600" cy="59436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737360" y="43708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4343400"/>
            <a:ext cx="1371600" cy="594360"/>
          </a:xfrm>
          <a:prstGeom prst="rect">
            <a:avLst/>
          </a:prstGeom>
          <a:solidFill>
            <a:srgbClr val="F57F17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43708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4343400"/>
            <a:ext cx="1371600" cy="59436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43708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4343400"/>
            <a:ext cx="1371600" cy="59436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43708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Lic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89520" y="4343400"/>
            <a:ext cx="1371600" cy="59436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589520" y="43708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Credit Bureau Score Analysis (Q10)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44531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Customers with NO bureau history have the HIGHEST default rate.  Higher CNS scores strongly correlate with lower default rates.  'M-Very High Risk' category has 30%+ default rate.  Credit score is the strongest single predictor.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Inquiries &amp; Credit History Analysis (Q13 &amp; Q14)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44531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More inquiries = Higher default risk — customers making 13+ inquiries show 60%+ default rate.  Delinquent accounts in last 6 months show strongest correlation with loan default.  Credit history IS a significant predictor.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 — Model Building &amp; Validation (Q15)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298448" cy="804672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72768" y="1179576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777240"/>
            <a:ext cx="1298448" cy="804672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777240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35808" y="1179576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777240"/>
            <a:ext cx="1298448" cy="804672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777240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98848" y="1179576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77240"/>
            <a:ext cx="1298448" cy="804672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777240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70/30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61888" y="1179576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777240"/>
            <a:ext cx="1298448" cy="804672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777240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24928" y="1179576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777240"/>
            <a:ext cx="1298448" cy="804672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777240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(ROC-AUC)</a:t>
            </a:r>
            <a:endParaRPr lang="en-US" sz="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91640"/>
            <a:ext cx="8595360" cy="26060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74320" y="4407408"/>
            <a:ext cx="1993392" cy="658368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74320" y="4462272"/>
            <a:ext cx="19933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274320" y="4815596"/>
            <a:ext cx="1993392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450592" y="4407408"/>
            <a:ext cx="1993392" cy="658368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450592" y="4462272"/>
            <a:ext cx="19933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0.618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2450592" y="4815596"/>
            <a:ext cx="1993392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26864" y="4407408"/>
            <a:ext cx="1993392" cy="658368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626864" y="4462272"/>
            <a:ext cx="19933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626864" y="4815596"/>
            <a:ext cx="1993392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(Non-Def)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803136" y="4407408"/>
            <a:ext cx="1993392" cy="658368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803136" y="4462272"/>
            <a:ext cx="19933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79%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803136" y="4815596"/>
            <a:ext cx="1993392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 — Feature Coefficients &amp; Importance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530352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749808"/>
            <a:ext cx="310896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749808"/>
            <a:ext cx="3108960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8503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Top Risk Factors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1261872"/>
            <a:ext cx="310896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High No. of Inquiries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1591056"/>
            <a:ext cx="310896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609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Delinquent Accts (6m)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1920240"/>
            <a:ext cx="310896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PRI Overdue Accounts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2249424"/>
            <a:ext cx="310896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New Accounts (6m)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60720" y="2578608"/>
            <a:ext cx="310896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2596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High LTV Ratio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60720" y="2971800"/>
            <a:ext cx="310896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30723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Protective Factors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60720" y="3493008"/>
            <a:ext cx="31089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35112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High CNS Score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60720" y="3785616"/>
            <a:ext cx="31089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Text 20"/>
          <p:cNvSpPr/>
          <p:nvPr/>
        </p:nvSpPr>
        <p:spPr>
          <a:xfrm>
            <a:off x="5852160" y="38039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Salaried Employment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760720" y="4078224"/>
            <a:ext cx="31089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2"/>
          <p:cNvSpPr/>
          <p:nvPr/>
        </p:nvSpPr>
        <p:spPr>
          <a:xfrm>
            <a:off x="5852160" y="40965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Aadhar Card Submitted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760720" y="4370832"/>
            <a:ext cx="31089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4"/>
          <p:cNvSpPr/>
          <p:nvPr/>
        </p:nvSpPr>
        <p:spPr>
          <a:xfrm>
            <a:off x="5852160" y="4389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High Disbursed Amount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760720" y="4663440"/>
            <a:ext cx="31089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6"/>
          <p:cNvSpPr/>
          <p:nvPr/>
        </p:nvSpPr>
        <p:spPr>
          <a:xfrm>
            <a:off x="5852160" y="46817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PAN Card Submitted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Dashboard — Vehicle Loan Default Analysis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48188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 contains 6 interactive charts: Default Rate KPI (21.71%) · Employment Type · Age Distribution · Credit Score · Inquiries Risk · Disbursed Amount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Dashboard — Chart-by-Chart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321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21.71% Default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978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 showing overall default rate across all 233,154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48840"/>
            <a:ext cx="420624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037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5694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(orange) has higher default rate (~22%) vs Salaried (blue, ~19%)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20440"/>
            <a:ext cx="420624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753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Distribution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9410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bar: Green=Non-default, Red=Default. Peak borrowers aged 22-26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7772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777240"/>
            <a:ext cx="4206240" cy="34747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8321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1978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M-Very High Risk shows 30%+ default rate. Low risk categories &lt;15% default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48840"/>
            <a:ext cx="420624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2037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Inquiries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5694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upward trend — more inquiries = higher default probability (peaks at 13)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20440"/>
            <a:ext cx="4206240" cy="347472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753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Disbursed Amount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410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loans (100K-200K) show highest default rates (~25-30%)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Business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 default rate — dataset is imbalanced. SMOTE or class weighting needed for better recall on minority class (defaulters).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206240" cy="123444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12848"/>
            <a:ext cx="54864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12848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Score is 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883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score is the strongest predictor. Customers with NO bureau history have the highest default risk (30%+).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4206240" cy="123444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02736"/>
            <a:ext cx="54864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602736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 Matters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782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customers default more (~57% of defaulters). Salaried workers are lower risk — key underwriting factor.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206240" cy="123444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22960"/>
            <a:ext cx="54864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229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Inquiry Red Flag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298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making 13+ inquiries show 60%+ default rate. Multiple loan inquiries signal financial distress.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206240" cy="123444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54864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12848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History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6883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Delinquent accounts in last 6 months is the strongest credit history predictor. Overdue primary accounts also critical.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206240" cy="123444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02736"/>
            <a:ext cx="54864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02736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782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lending for No-Bureau + High-Inquiry customers. Use XGBoost for better recall. Prioritize CNS score in risk models.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Loan Default Prediction</dc:title>
  <dc:subject>PptxGenJS Presentation</dc:subject>
  <dc:creator>PptxGenJS</dc:creator>
  <cp:lastModifiedBy>PptxGenJS</cp:lastModifiedBy>
  <cp:revision>1</cp:revision>
  <dcterms:created xsi:type="dcterms:W3CDTF">2026-04-21T08:30:35Z</dcterms:created>
  <dcterms:modified xsi:type="dcterms:W3CDTF">2026-04-21T08:30:35Z</dcterms:modified>
</cp:coreProperties>
</file>